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Hook, say it first: Pfuma is the Shona word for wealth — and for a rural family, that wealth is usually standing in the kraal. We built an app that protects it: stops your cattle being stolen, catches disease before it spreads, and gets police and vets involved digitally instead of on foot. Then stop talking and let them ask a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ONE opener depending on who is in front of you. To a farmer: how do you prove a cow is really yours if someone disputes it? To anyone: January Disease has killed 500,000+ cattle since 2016. To a skeptic: theft, disputes and outbreaks are tracked on paper, by memory, or not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Branch the conversation by who they are — ask what they do, then use the matching pitch. If they push on fake officers: police accounts aren't self-signup, an existing verified officer creates and vouches for the next one, the same way real ZRP units onboard.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sentence version: we designed real collar hardware — ESP32, GPS, heart-rate and temperature sensors, talking to a base station over long-range radio — so it works on a farm with no WiFi and no cell signal near the cattle. If they push, show the actual_equipment photos on the laptop.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getting them to DO something: offer a demo account on the spot. If they're a farmer, vet or supplier genuinely interested, take their contact — a follow-up after the show is worth more than a booth conversation they forget by the next stall.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jpg"/><Relationship Id="rId10" Type="http://schemas.openxmlformats.org/officeDocument/2006/relationships/image" Target="../media/image-8-10.jpg"/><Relationship Id="rId11" Type="http://schemas.openxmlformats.org/officeDocument/2006/relationships/image" Target="../media/image-8-11.jp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6692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40" kern="0" dirty="0">
                <a:solidFill>
                  <a:srgbClr val="FBC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ZIMBABWE AGRICULTURAL SHOW 2026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1170432"/>
            <a:ext cx="74980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0" b="1" spc="-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PFUMA</a:t>
            </a:r>
            <a:endParaRPr lang="en-US" sz="10400" dirty="0"/>
          </a:p>
        </p:txBody>
      </p:sp>
      <p:sp>
        <p:nvSpPr>
          <p:cNvPr id="4" name="Text 2"/>
          <p:cNvSpPr/>
          <p:nvPr/>
        </p:nvSpPr>
        <p:spPr>
          <a:xfrm>
            <a:off x="621792" y="27614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pfuma</a:t>
            </a:r>
            <a:pPr indent="0" marL="0">
              <a:buNone/>
            </a:pPr>
            <a:r>
              <a:rPr lang="en-US" sz="1900" dirty="0">
                <a:solidFill>
                  <a:srgbClr val="E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the Shona word for wealth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21792" y="325526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agri-health intelligence for Zimbabwe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621792" y="3767328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rural family, that wealth is standing in the kraal.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the system that protects it.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4791456"/>
            <a:ext cx="1887322" cy="402336"/>
          </a:xfrm>
          <a:prstGeom prst="roundRect">
            <a:avLst>
              <a:gd name="adj" fmla="val 50000"/>
            </a:avLst>
          </a:prstGeom>
          <a:solidFill>
            <a:srgbClr val="12351B"/>
          </a:solidFill>
          <a:ln w="12700">
            <a:solidFill>
              <a:srgbClr val="2A62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4791456"/>
            <a:ext cx="18873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80" kern="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ROLES · 1 RECORD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18842" y="4791456"/>
            <a:ext cx="2066544" cy="402336"/>
          </a:xfrm>
          <a:prstGeom prst="roundRect">
            <a:avLst>
              <a:gd name="adj" fmla="val 50000"/>
            </a:avLst>
          </a:prstGeom>
          <a:solidFill>
            <a:srgbClr val="12351B"/>
          </a:solidFill>
          <a:ln w="12700">
            <a:solidFill>
              <a:srgbClr val="2A62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18842" y="4791456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80" kern="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POLICE-CLEARED SALES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9978" y="4791456"/>
            <a:ext cx="2514600" cy="402336"/>
          </a:xfrm>
          <a:prstGeom prst="roundRect">
            <a:avLst>
              <a:gd name="adj" fmla="val 50000"/>
            </a:avLst>
          </a:prstGeom>
          <a:solidFill>
            <a:srgbClr val="12351B"/>
          </a:solidFill>
          <a:ln w="12700">
            <a:solidFill>
              <a:srgbClr val="2A62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9978" y="4791456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80" kern="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ASSISTANT + IOT COLLAR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1792" y="5705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FBC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GRIWD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" y="598017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Arnold T. Mapindu  ·  Adrianny Jaliele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223760" y="886968"/>
            <a:ext cx="4846320" cy="4846320"/>
          </a:xfrm>
          <a:prstGeom prst="ellipse">
            <a:avLst/>
          </a:prstGeom>
          <a:ln w="15875">
            <a:solidFill>
              <a:srgbClr val="1D4A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1344168"/>
            <a:ext cx="3931920" cy="3931920"/>
          </a:xfrm>
          <a:prstGeom prst="ellipse">
            <a:avLst/>
          </a:prstGeom>
          <a:ln w="15875">
            <a:solidFill>
              <a:srgbClr val="2460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801368"/>
            <a:ext cx="3017520" cy="3017520"/>
          </a:xfrm>
          <a:prstGeom prst="ellipse">
            <a:avLst/>
          </a:prstGeom>
          <a:ln w="15875">
            <a:solidFill>
              <a:srgbClr val="2E7D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86216" y="2249424"/>
            <a:ext cx="2121408" cy="2121408"/>
          </a:xfrm>
          <a:prstGeom prst="ellipse">
            <a:avLst/>
          </a:prstGeom>
          <a:solidFill>
            <a:srgbClr val="1B5E20"/>
          </a:solidFill>
          <a:ln w="19050">
            <a:solidFill>
              <a:srgbClr val="22C55E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0264" y="2633472"/>
            <a:ext cx="1353312" cy="1353312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9363456" y="1060704"/>
            <a:ext cx="566928" cy="566928"/>
          </a:xfrm>
          <a:prstGeom prst="ellipse">
            <a:avLst/>
          </a:prstGeom>
          <a:solidFill>
            <a:srgbClr val="FBC02D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0857" y="1208105"/>
            <a:ext cx="272125" cy="272125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11233195" y="2419149"/>
            <a:ext cx="566928" cy="566928"/>
          </a:xfrm>
          <a:prstGeom prst="ellipse">
            <a:avLst/>
          </a:prstGeom>
          <a:solidFill>
            <a:srgbClr val="FBC02D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0596" y="2566550"/>
            <a:ext cx="272125" cy="272125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10519018" y="4617159"/>
            <a:ext cx="566928" cy="566928"/>
          </a:xfrm>
          <a:prstGeom prst="ellipse">
            <a:avLst/>
          </a:prstGeom>
          <a:solidFill>
            <a:srgbClr val="FBC02D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6420" y="4764560"/>
            <a:ext cx="272125" cy="272125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8207894" y="4617159"/>
            <a:ext cx="566928" cy="566928"/>
          </a:xfrm>
          <a:prstGeom prst="ellipse">
            <a:avLst/>
          </a:prstGeom>
          <a:solidFill>
            <a:srgbClr val="FBC02D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5295" y="4764560"/>
            <a:ext cx="272125" cy="272125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7493717" y="2419149"/>
            <a:ext cx="566928" cy="566928"/>
          </a:xfrm>
          <a:prstGeom prst="ellipse">
            <a:avLst/>
          </a:prstGeom>
          <a:solidFill>
            <a:srgbClr val="FBC02D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1118" y="2566550"/>
            <a:ext cx="272125" cy="2721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749808" cy="749808"/>
          </a:xfrm>
          <a:prstGeom prst="roundRect">
            <a:avLst>
              <a:gd name="adj" fmla="val 17073"/>
            </a:avLst>
          </a:prstGeom>
          <a:solidFill>
            <a:srgbClr val="FBC02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36192" y="365760"/>
            <a:ext cx="1008857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spc="-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38988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Livestock is often a rural family's largest store of wealth. It is also the least protected asset they own.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66928" y="1993392"/>
            <a:ext cx="3401568" cy="3054096"/>
          </a:xfrm>
          <a:prstGeom prst="roundRect">
            <a:avLst>
              <a:gd name="adj" fmla="val 1796"/>
            </a:avLst>
          </a:prstGeom>
          <a:solidFill>
            <a:srgbClr val="12351B"/>
          </a:solidFill>
          <a:ln w="12700">
            <a:solidFill>
              <a:srgbClr val="2A623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2304288"/>
            <a:ext cx="603504" cy="603504"/>
          </a:xfrm>
          <a:prstGeom prst="ellipse">
            <a:avLst/>
          </a:prstGeom>
          <a:solidFill>
            <a:srgbClr val="FBC02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735" y="2461199"/>
            <a:ext cx="289682" cy="28968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7824" y="3017520"/>
            <a:ext cx="27797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-100" kern="0" dirty="0">
                <a:solidFill>
                  <a:srgbClr val="FBC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500,000+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877824" y="3730752"/>
            <a:ext cx="2779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TO JANUARY DISEASE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77824" y="4096512"/>
            <a:ext cx="27797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DBA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Theileriosis has killed more than half a million cattle in Zimbabwe since 2016. Most of that is preventable if it is caught early.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261104" y="1993392"/>
            <a:ext cx="3401568" cy="3054096"/>
          </a:xfrm>
          <a:prstGeom prst="roundRect">
            <a:avLst>
              <a:gd name="adj" fmla="val 1796"/>
            </a:avLst>
          </a:prstGeom>
          <a:solidFill>
            <a:srgbClr val="12351B"/>
          </a:solidFill>
          <a:ln w="12700">
            <a:solidFill>
              <a:srgbClr val="2A623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0" y="2304288"/>
            <a:ext cx="603504" cy="603504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8911" y="2461199"/>
            <a:ext cx="289682" cy="28968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72000" y="3017520"/>
            <a:ext cx="27797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-100" kern="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3,400+</a:t>
            </a:r>
            <a:endParaRPr lang="en-US" sz="4200" dirty="0"/>
          </a:p>
        </p:txBody>
      </p:sp>
      <p:sp>
        <p:nvSpPr>
          <p:cNvPr id="16" name="Text 12"/>
          <p:cNvSpPr/>
          <p:nvPr/>
        </p:nvSpPr>
        <p:spPr>
          <a:xfrm>
            <a:off x="4572000" y="3730752"/>
            <a:ext cx="2779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ARRESTS IN ONE CRACKDOWN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572000" y="4096512"/>
            <a:ext cx="27797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DBA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theft is organised, not occasional. A single ZRP operation produced over three thousand four hundred arrests.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7955280" y="1993392"/>
            <a:ext cx="3401568" cy="3054096"/>
          </a:xfrm>
          <a:prstGeom prst="roundRect">
            <a:avLst>
              <a:gd name="adj" fmla="val 1796"/>
            </a:avLst>
          </a:prstGeom>
          <a:solidFill>
            <a:srgbClr val="12351B"/>
          </a:solidFill>
          <a:ln w="12700">
            <a:solidFill>
              <a:srgbClr val="2A6234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266176" y="2304288"/>
            <a:ext cx="603504" cy="603504"/>
          </a:xfrm>
          <a:prstGeom prst="ellipse">
            <a:avLst/>
          </a:prstGeom>
          <a:solidFill>
            <a:srgbClr val="F97362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3087" y="2461199"/>
            <a:ext cx="289682" cy="28968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66176" y="3017520"/>
            <a:ext cx="27797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-100" kern="0" dirty="0">
                <a:solidFill>
                  <a:srgbClr val="F973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200" dirty="0"/>
          </a:p>
        </p:txBody>
      </p:sp>
      <p:sp>
        <p:nvSpPr>
          <p:cNvPr id="22" name="Text 17"/>
          <p:cNvSpPr/>
          <p:nvPr/>
        </p:nvSpPr>
        <p:spPr>
          <a:xfrm>
            <a:off x="8266176" y="3730752"/>
            <a:ext cx="2779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VERIFIABLE DIGITAL RECORDS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8266176" y="4096512"/>
            <a:ext cx="27797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DBA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Theft, ownership disputes and outbreaks are tracked on paper, by memory, or not at all. A phone call disappears.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566928" y="5230368"/>
            <a:ext cx="11057839" cy="749808"/>
          </a:xfrm>
          <a:prstGeom prst="roundRect">
            <a:avLst>
              <a:gd name="adj" fmla="val 7317"/>
            </a:avLst>
          </a:prstGeom>
          <a:solidFill>
            <a:srgbClr val="0E2A16"/>
          </a:solidFill>
          <a:ln w="12700">
            <a:solidFill>
              <a:srgbClr val="2A6234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77824" y="5230368"/>
            <a:ext cx="1043604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C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isn't goodwill — it's proof.  </a:t>
            </a:r>
            <a:pPr indent="0" marL="0">
              <a:buNone/>
            </a:pPr>
            <a:r>
              <a:rPr lang="en-US" sz="1500" dirty="0">
                <a:solidFill>
                  <a:srgbClr val="E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cannot clear a sale they have no visibility into, and a buyer cannot check a story he has only been told.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749808" cy="749808"/>
          </a:xfrm>
          <a:prstGeom prst="roundRect">
            <a:avLst>
              <a:gd name="adj" fmla="val 17073"/>
            </a:avLst>
          </a:prstGeom>
          <a:solidFill>
            <a:srgbClr val="FBC02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36192" y="365760"/>
            <a:ext cx="1008857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spc="-40" kern="0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PFUMA IS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499616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5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platform. Five kinds of account.</a:t>
            </a:r>
            <a:endParaRPr lang="en-US" sz="25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5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shared livestock record.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85216" y="2633472"/>
            <a:ext cx="512064" cy="512064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53" y="2766609"/>
            <a:ext cx="245791" cy="2457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261518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farmer registers an animal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280160" y="2907792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Breed, tag ID, brand mark, dip-tank and health history — recorded once, kept for life.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85216" y="3566160"/>
            <a:ext cx="512064" cy="512064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353" y="3699297"/>
            <a:ext cx="245791" cy="2457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354787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vet certifies its health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280160" y="3840480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Consultations, treatments and certificates become part of that animal's permanent file.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85216" y="4498848"/>
            <a:ext cx="512064" cy="512064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353" y="4631985"/>
            <a:ext cx="245791" cy="2457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448056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officer must clear it before sale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1280160" y="4773168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and brand papers verified, movement-permit number issued. Built in, not optional.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85216" y="5431536"/>
            <a:ext cx="512064" cy="512064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353" y="5564673"/>
            <a:ext cx="245791" cy="24579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80160" y="541324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buyer sees all of it before paying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1280160" y="5705856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stranger's word — a record, with the vet note and the clearance attached.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7479792" y="1499616"/>
            <a:ext cx="4144975" cy="3218688"/>
          </a:xfrm>
          <a:prstGeom prst="roundRect">
            <a:avLst>
              <a:gd name="adj" fmla="val 1705"/>
            </a:avLst>
          </a:prstGeom>
          <a:solidFill>
            <a:srgbClr val="1B5E20"/>
          </a:solidFill>
          <a:ln/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5552" y="1847088"/>
            <a:ext cx="475488" cy="47548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845552" y="2487168"/>
            <a:ext cx="3413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the paper trail everyone already should have — except it's real, it's digital, and nobody can fake it after the fact.</a:t>
            </a:r>
            <a:endParaRPr lang="en-US" sz="1800" dirty="0"/>
          </a:p>
        </p:txBody>
      </p:sp>
      <p:sp>
        <p:nvSpPr>
          <p:cNvPr id="25" name="Text 18"/>
          <p:cNvSpPr/>
          <p:nvPr/>
        </p:nvSpPr>
        <p:spPr>
          <a:xfrm>
            <a:off x="7845552" y="42611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FBC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30-SECOND ANSWER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7479792" y="5102352"/>
            <a:ext cx="4144975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7754112" y="5102352"/>
            <a:ext cx="3596335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A2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replacement for the vet or the police.
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PFUMA gives that relationship a paper trail. A phone call disappears; a record does not.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749808" cy="749808"/>
          </a:xfrm>
          <a:prstGeom prst="roundRect">
            <a:avLst>
              <a:gd name="adj" fmla="val 17073"/>
            </a:avLst>
          </a:prstGeom>
          <a:solidFill>
            <a:srgbClr val="FBC02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36192" y="365760"/>
            <a:ext cx="1008857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spc="-40" kern="0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ROLES, ONE RECORD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1536192"/>
            <a:ext cx="2139696" cy="3273552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1810512"/>
            <a:ext cx="566928" cy="566928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649" y="1957913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487168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2962656"/>
            <a:ext cx="16276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animals once — breed, tag, brand, health. Then gets weight tracking, vaccination due-dates and geofence alerts, and a verified profile buyers trust.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889504" y="1536192"/>
            <a:ext cx="2139696" cy="3273552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63824" y="1810512"/>
            <a:ext cx="566928" cy="566928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1225" y="1957913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145536" y="2487168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VETERINARIAN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145536" y="2962656"/>
            <a:ext cx="16276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caseload dashboard by province and district — real surveillance data, not guesswork. Farmers consult directly; certificates become permanent record.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212080" y="1536192"/>
            <a:ext cx="2139696" cy="3273552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486400" y="1810512"/>
            <a:ext cx="566928" cy="566928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3801" y="1957913"/>
            <a:ext cx="272125" cy="2721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68112" y="2487168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468112" y="2962656"/>
            <a:ext cx="16276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Feed, medicine and vaccines sold straight to the farmers in each district who need them — instead of a phone call and a guess.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7534656" y="1536192"/>
            <a:ext cx="2139696" cy="3273552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808976" y="1810512"/>
            <a:ext cx="566928" cy="566928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6377" y="1957913"/>
            <a:ext cx="272125" cy="2721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90688" y="2487168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RETAILER / BUYER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790688" y="2962656"/>
            <a:ext cx="16276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listing has passed police clearance, and usually a vet certificate, before it is even visible. You buy a record, not a promise.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9857232" y="1536192"/>
            <a:ext cx="2139696" cy="3273552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10131552" y="1810512"/>
            <a:ext cx="566928" cy="566928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78953" y="1957913"/>
            <a:ext cx="272125" cy="27212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113264" y="2487168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POLICE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10113264" y="2962656"/>
            <a:ext cx="16276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signup applications, verifies ownership and brand papers, and issues the movement-permit number that unlocks a sale.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566928" y="5138928"/>
            <a:ext cx="11057839" cy="731520"/>
          </a:xfrm>
          <a:prstGeom prst="roundRect">
            <a:avLst>
              <a:gd name="adj" fmla="val 7500"/>
            </a:avLst>
          </a:prstGeom>
          <a:solidFill>
            <a:srgbClr val="EAF4EC"/>
          </a:solidFill>
          <a:ln w="12700">
            <a:solidFill>
              <a:srgbClr val="CFE3D4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841248" y="5138928"/>
            <a:ext cx="105091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self-certifies.  </a:t>
            </a:r>
            <a:pPr indent="0" marL="0">
              <a:buNone/>
            </a:pPr>
            <a:r>
              <a:rPr lang="en-US" sz="12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accounts are provisioned by an existing verified officer — never self-service. Vet applications are peer-reviewed by an already-verified vet. Every role uploads an ID plus a role-specific credential.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566928" y="625449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what they do, then use the matching pitch — the same platform sounds different to a farmer, a vet and a buyer.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749808" cy="749808"/>
          </a:xfrm>
          <a:prstGeom prst="roundRect">
            <a:avLst>
              <a:gd name="adj" fmla="val 17073"/>
            </a:avLst>
          </a:prstGeom>
          <a:solidFill>
            <a:srgbClr val="FBC02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36192" y="365760"/>
            <a:ext cx="1008857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spc="-40" kern="0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JOURNEY OF ONE ANIMAL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it as a story, not a diagram — it is the same file, growing over time.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1883664"/>
            <a:ext cx="2139696" cy="2889504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176272"/>
            <a:ext cx="566928" cy="566928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649" y="2323673"/>
            <a:ext cx="272125" cy="2721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20240" y="2121408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DCEB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822960" y="2889504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22960" y="3236976"/>
            <a:ext cx="162763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farmer records breed, tag ID, brand mark and dip-tank details. No brand on record is flagged as a risk before any sale.</a:t>
            </a:r>
            <a:endParaRPr lang="en-US" sz="1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5768" y="3246120"/>
            <a:ext cx="164592" cy="16459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889504" y="1883664"/>
            <a:ext cx="2139696" cy="2889504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163824" y="2176272"/>
            <a:ext cx="566928" cy="566928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1225" y="2323673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242816" y="2121408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DCEB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400" dirty="0"/>
          </a:p>
        </p:txBody>
      </p:sp>
      <p:sp>
        <p:nvSpPr>
          <p:cNvPr id="17" name="Text 12"/>
          <p:cNvSpPr/>
          <p:nvPr/>
        </p:nvSpPr>
        <p:spPr>
          <a:xfrm>
            <a:off x="3145536" y="2889504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3145536" y="3236976"/>
            <a:ext cx="162763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collar reports temperature, heart rate, movement and location. A fever spike or a boundary breach raises an alert immediately.</a:t>
            </a:r>
            <a:endParaRPr lang="en-US" sz="12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8344" y="3246120"/>
            <a:ext cx="164592" cy="16459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212080" y="1883664"/>
            <a:ext cx="2139696" cy="2889504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486400" y="2176272"/>
            <a:ext cx="566928" cy="566928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3801" y="2323673"/>
            <a:ext cx="272125" cy="27212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565392" y="2121408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DCEB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400" dirty="0"/>
          </a:p>
        </p:txBody>
      </p:sp>
      <p:sp>
        <p:nvSpPr>
          <p:cNvPr id="24" name="Text 17"/>
          <p:cNvSpPr/>
          <p:nvPr/>
        </p:nvSpPr>
        <p:spPr>
          <a:xfrm>
            <a:off x="5468112" y="2889504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5468112" y="3236976"/>
            <a:ext cx="162763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farmer messages a vet in-app. The vet reviews, treats, and can order medicine from a supplier — three roles, one system.</a:t>
            </a:r>
            <a:endParaRPr lang="en-US" sz="12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0920" y="3246120"/>
            <a:ext cx="164592" cy="164592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7534656" y="1883664"/>
            <a:ext cx="2139696" cy="2889504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7808976" y="2176272"/>
            <a:ext cx="566928" cy="566928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56377" y="2323673"/>
            <a:ext cx="272125" cy="272125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8887968" y="2121408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DCEB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400" dirty="0"/>
          </a:p>
        </p:txBody>
      </p:sp>
      <p:sp>
        <p:nvSpPr>
          <p:cNvPr id="31" name="Text 22"/>
          <p:cNvSpPr/>
          <p:nvPr/>
        </p:nvSpPr>
        <p:spPr>
          <a:xfrm>
            <a:off x="7790688" y="2889504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</a:t>
            </a:r>
            <a:endParaRPr lang="en-US" sz="1350" dirty="0"/>
          </a:p>
        </p:txBody>
      </p:sp>
      <p:sp>
        <p:nvSpPr>
          <p:cNvPr id="32" name="Text 23"/>
          <p:cNvSpPr/>
          <p:nvPr/>
        </p:nvSpPr>
        <p:spPr>
          <a:xfrm>
            <a:off x="7790688" y="3236976"/>
            <a:ext cx="162763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listing opens as pending_clearance. An officer verifies ownership and brand papers and issues a movement-permit number.</a:t>
            </a:r>
            <a:endParaRPr lang="en-US" sz="120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83496" y="3246120"/>
            <a:ext cx="164592" cy="164592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9857232" y="1883664"/>
            <a:ext cx="2139696" cy="2889504"/>
          </a:xfrm>
          <a:prstGeom prst="roundRect">
            <a:avLst>
              <a:gd name="adj" fmla="val 2564"/>
            </a:avLst>
          </a:prstGeom>
          <a:solidFill>
            <a:srgbClr val="1B5E20"/>
          </a:solidFill>
          <a:ln/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10131552" y="2176272"/>
            <a:ext cx="566928" cy="566928"/>
          </a:xfrm>
          <a:prstGeom prst="ellipse">
            <a:avLst/>
          </a:prstGeom>
          <a:solidFill>
            <a:srgbClr val="FBC02D"/>
          </a:solidFill>
          <a:ln/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78953" y="2323673"/>
            <a:ext cx="272125" cy="272125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11210544" y="2121408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4E9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400" dirty="0"/>
          </a:p>
        </p:txBody>
      </p:sp>
      <p:sp>
        <p:nvSpPr>
          <p:cNvPr id="38" name="Text 27"/>
          <p:cNvSpPr/>
          <p:nvPr/>
        </p:nvSpPr>
        <p:spPr>
          <a:xfrm>
            <a:off x="10113264" y="2889504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FBC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</a:t>
            </a:r>
            <a:endParaRPr lang="en-US" sz="1350" dirty="0"/>
          </a:p>
        </p:txBody>
      </p:sp>
      <p:sp>
        <p:nvSpPr>
          <p:cNvPr id="39" name="Text 28"/>
          <p:cNvSpPr/>
          <p:nvPr/>
        </p:nvSpPr>
        <p:spPr>
          <a:xfrm>
            <a:off x="10113264" y="3236976"/>
            <a:ext cx="162763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DFF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now can buyers see it. The vet's health record and the police clearance travel with the sale.</a:t>
            </a:r>
            <a:endParaRPr lang="en-US" sz="1200" dirty="0"/>
          </a:p>
        </p:txBody>
      </p:sp>
      <p:sp>
        <p:nvSpPr>
          <p:cNvPr id="40" name="Shape 29"/>
          <p:cNvSpPr/>
          <p:nvPr/>
        </p:nvSpPr>
        <p:spPr>
          <a:xfrm>
            <a:off x="566928" y="5047488"/>
            <a:ext cx="11057839" cy="768096"/>
          </a:xfrm>
          <a:prstGeom prst="roundRect">
            <a:avLst>
              <a:gd name="adj" fmla="val 7143"/>
            </a:avLst>
          </a:prstGeom>
          <a:solidFill>
            <a:srgbClr val="1B5E20"/>
          </a:solidFill>
          <a:ln/>
        </p:spPr>
      </p:sp>
      <p:sp>
        <p:nvSpPr>
          <p:cNvPr id="41" name="Text 30"/>
          <p:cNvSpPr/>
          <p:nvPr/>
        </p:nvSpPr>
        <p:spPr>
          <a:xfrm>
            <a:off x="859536" y="5047488"/>
            <a:ext cx="10472623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C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feature: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sale cannot go live until an officer clears it. That gate lives in the software, not in a policy document — which is exactly why it doesn't get skipped.</a:t>
            </a:r>
            <a:endParaRPr lang="en-US" sz="1350" dirty="0"/>
          </a:p>
        </p:txBody>
      </p:sp>
      <p:sp>
        <p:nvSpPr>
          <p:cNvPr id="42" name="Text 31"/>
          <p:cNvSpPr/>
          <p:nvPr/>
        </p:nvSpPr>
        <p:spPr>
          <a:xfrm>
            <a:off x="566928" y="625449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the same animal's file — a farmer who registers once never re-enters it.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749808" cy="749808"/>
          </a:xfrm>
          <a:prstGeom prst="roundRect">
            <a:avLst>
              <a:gd name="adj" fmla="val 17073"/>
            </a:avLst>
          </a:prstGeom>
          <a:solidFill>
            <a:srgbClr val="FBC02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36192" y="365760"/>
            <a:ext cx="1008857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spc="-40" kern="0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PLATFORM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2697480" cy="1975104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73936"/>
            <a:ext cx="548640" cy="548640"/>
          </a:xfrm>
          <a:prstGeom prst="ellipse">
            <a:avLst/>
          </a:prstGeom>
          <a:solidFill>
            <a:srgbClr val="E7F3E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606" y="1916582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414016"/>
            <a:ext cx="2185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Jinda AI Assistant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2779776"/>
            <a:ext cx="21854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answers on disease, law and herd analytics. Role-aware.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38144" y="1517904"/>
            <a:ext cx="2697480" cy="1975104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94176" y="1773936"/>
            <a:ext cx="548640" cy="548640"/>
          </a:xfrm>
          <a:prstGeom prst="ellipse">
            <a:avLst/>
          </a:prstGeom>
          <a:solidFill>
            <a:srgbClr val="E7F3E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6822" y="1916582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94176" y="2414016"/>
            <a:ext cx="2185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Diagnostics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694176" y="2779776"/>
            <a:ext cx="21854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 secondary symptom matching, with multi-step action plans.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309360" y="1517904"/>
            <a:ext cx="2697480" cy="1975104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65392" y="1773936"/>
            <a:ext cx="548640" cy="548640"/>
          </a:xfrm>
          <a:prstGeom prst="ellipse">
            <a:avLst/>
          </a:prstGeom>
          <a:solidFill>
            <a:srgbClr val="E7F3E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8038" y="1916582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65392" y="2414016"/>
            <a:ext cx="2185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&amp; Compliance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565392" y="2779776"/>
            <a:ext cx="21854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Weaning and gestation countdowns; overdue, due today, upcoming.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180576" y="1517904"/>
            <a:ext cx="2697480" cy="1975104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436608" y="1773936"/>
            <a:ext cx="548640" cy="548640"/>
          </a:xfrm>
          <a:prstGeom prst="ellipse">
            <a:avLst/>
          </a:prstGeom>
          <a:solidFill>
            <a:srgbClr val="E7F3E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9254" y="1916582"/>
            <a:ext cx="263347" cy="26334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436608" y="2414016"/>
            <a:ext cx="2185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Command Center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9436608" y="2779776"/>
            <a:ext cx="21854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Vitality Index fusing temperature, heart rate and activity. GPS geofencing.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66928" y="3694176"/>
            <a:ext cx="2697480" cy="1975104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822960" y="3950208"/>
            <a:ext cx="548640" cy="548640"/>
          </a:xfrm>
          <a:prstGeom prst="ellipse">
            <a:avLst/>
          </a:prstGeom>
          <a:solidFill>
            <a:srgbClr val="E7F3EA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606" y="4092854"/>
            <a:ext cx="263347" cy="26334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22960" y="4590288"/>
            <a:ext cx="2185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 Advisory Portal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822960" y="4956048"/>
            <a:ext cx="21854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Ticketing by province and district, plus DVS regional hotlines.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3438144" y="3694176"/>
            <a:ext cx="2697480" cy="1975104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3694176" y="3950208"/>
            <a:ext cx="548640" cy="548640"/>
          </a:xfrm>
          <a:prstGeom prst="ellipse">
            <a:avLst/>
          </a:prstGeom>
          <a:solidFill>
            <a:srgbClr val="E7F3EA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6822" y="4092854"/>
            <a:ext cx="263347" cy="263347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694176" y="4590288"/>
            <a:ext cx="2185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Police Oversight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3694176" y="4956048"/>
            <a:ext cx="21854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review queue and sale-clearance queue with permit numbers.</a:t>
            </a:r>
            <a:endParaRPr lang="en-US" sz="1150" dirty="0"/>
          </a:p>
        </p:txBody>
      </p:sp>
      <p:sp>
        <p:nvSpPr>
          <p:cNvPr id="35" name="Shape 27"/>
          <p:cNvSpPr/>
          <p:nvPr/>
        </p:nvSpPr>
        <p:spPr>
          <a:xfrm>
            <a:off x="6309360" y="3694176"/>
            <a:ext cx="2697480" cy="1975104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6565392" y="3950208"/>
            <a:ext cx="548640" cy="548640"/>
          </a:xfrm>
          <a:prstGeom prst="ellipse">
            <a:avLst/>
          </a:prstGeom>
          <a:solidFill>
            <a:srgbClr val="E7F3EA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08038" y="4092854"/>
            <a:ext cx="263347" cy="263347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565392" y="4590288"/>
            <a:ext cx="2185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Library</a:t>
            </a:r>
            <a:endParaRPr lang="en-US" sz="1300" dirty="0"/>
          </a:p>
        </p:txBody>
      </p:sp>
      <p:sp>
        <p:nvSpPr>
          <p:cNvPr id="39" name="Text 30"/>
          <p:cNvSpPr/>
          <p:nvPr/>
        </p:nvSpPr>
        <p:spPr>
          <a:xfrm>
            <a:off x="6565392" y="4956048"/>
            <a:ext cx="21854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Zimbabwean livestock law; cattle, pigs, sheep and goats.</a:t>
            </a:r>
            <a:endParaRPr lang="en-US" sz="1150" dirty="0"/>
          </a:p>
        </p:txBody>
      </p:sp>
      <p:sp>
        <p:nvSpPr>
          <p:cNvPr id="40" name="Shape 31"/>
          <p:cNvSpPr/>
          <p:nvPr/>
        </p:nvSpPr>
        <p:spPr>
          <a:xfrm>
            <a:off x="9180576" y="3694176"/>
            <a:ext cx="2697480" cy="1975104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9436608" y="3950208"/>
            <a:ext cx="548640" cy="548640"/>
          </a:xfrm>
          <a:prstGeom prst="ellipse">
            <a:avLst/>
          </a:prstGeom>
          <a:solidFill>
            <a:srgbClr val="E7F3EA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79254" y="4092854"/>
            <a:ext cx="263347" cy="263347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9436608" y="4590288"/>
            <a:ext cx="2185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&amp; Access Control</a:t>
            </a:r>
            <a:endParaRPr lang="en-US" sz="1300" dirty="0"/>
          </a:p>
        </p:txBody>
      </p:sp>
      <p:sp>
        <p:nvSpPr>
          <p:cNvPr id="44" name="Text 34"/>
          <p:cNvSpPr/>
          <p:nvPr/>
        </p:nvSpPr>
        <p:spPr>
          <a:xfrm>
            <a:off x="9436608" y="4956048"/>
            <a:ext cx="21854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passwords, JWT sessions, strict per-owner data scoping.</a:t>
            </a:r>
            <a:endParaRPr lang="en-US" sz="1150" dirty="0"/>
          </a:p>
        </p:txBody>
      </p:sp>
      <p:sp>
        <p:nvSpPr>
          <p:cNvPr id="45" name="Text 35"/>
          <p:cNvSpPr/>
          <p:nvPr/>
        </p:nvSpPr>
        <p:spPr>
          <a:xfrm>
            <a:off x="566928" y="625449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(Vite) + Tailwind web app · Expo mobile app · Flask + PyMySQL API · MySQL · Recharts.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749808" cy="749808"/>
          </a:xfrm>
          <a:prstGeom prst="roundRect">
            <a:avLst>
              <a:gd name="adj" fmla="val 17073"/>
            </a:avLst>
          </a:prstGeom>
          <a:solidFill>
            <a:srgbClr val="FBC02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36192" y="365760"/>
            <a:ext cx="1008857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spc="-40" kern="0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JINDA — THE AI FARM ASSISTANT</a:t>
            </a:r>
            <a:endParaRPr lang="en-US" sz="3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1563624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9264" y="151790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in plain language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69264" y="181051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a farmer with a phone, not a technician with a manual. Natural-language questions, no forms to learn.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459736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9264" y="241401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what actually kills herds here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969264" y="2706624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Disease (Theileriosis), Anthrax, Foot and Mouth, Lumpy Skin, African Swine Fever, and cattle gestation and weaning standards.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335584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9264" y="331012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Knows the law, and says so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969264" y="3602736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on the cited compliance research to answer "what do I legally need to keep or sell this animal?"</a:t>
            </a:r>
            <a:endParaRPr lang="en-US" sz="12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" y="4251960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69264" y="420624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the herd maths for you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969264" y="449884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Herd size, health trends and analytics on request — and it will navigate the app when asked.</a:t>
            </a:r>
            <a:endParaRPr lang="en-US" sz="12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" y="5148072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69264" y="510235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Role-aware by design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969264" y="53949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refuses to discuss another user's animals. A vet sees oversight; a farmer sees only their own.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7223760" y="1517904"/>
            <a:ext cx="4401007" cy="4626864"/>
          </a:xfrm>
          <a:prstGeom prst="roundRect">
            <a:avLst>
              <a:gd name="adj" fmla="val 1247"/>
            </a:avLst>
          </a:prstGeom>
          <a:solidFill>
            <a:srgbClr val="1B5E20"/>
          </a:solidFill>
          <a:ln/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7516368" y="1700784"/>
            <a:ext cx="512064" cy="512064"/>
          </a:xfrm>
          <a:prstGeom prst="ellipse">
            <a:avLst/>
          </a:prstGeom>
          <a:solidFill>
            <a:srgbClr val="FBC02D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9505" y="1833921"/>
            <a:ext cx="245791" cy="245791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138160" y="17007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JINDA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8138160" y="19568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D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assistant · online</a:t>
            </a:r>
            <a:endParaRPr lang="en-US" sz="1100" dirty="0"/>
          </a:p>
        </p:txBody>
      </p:sp>
      <p:sp>
        <p:nvSpPr>
          <p:cNvPr id="25" name="Shape 17"/>
          <p:cNvSpPr/>
          <p:nvPr/>
        </p:nvSpPr>
        <p:spPr>
          <a:xfrm>
            <a:off x="7882128" y="2395728"/>
            <a:ext cx="3450031" cy="676656"/>
          </a:xfrm>
          <a:prstGeom prst="roundRect">
            <a:avLst>
              <a:gd name="adj" fmla="val 13514"/>
            </a:avLst>
          </a:prstGeom>
          <a:solidFill>
            <a:srgbClr val="1F7A2C"/>
          </a:solidFill>
          <a:ln w="12700">
            <a:solidFill>
              <a:srgbClr val="3E9B4C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8046720" y="2395728"/>
            <a:ext cx="31208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E6F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Mombe yangu iri kudedera uye haisi kudya. Ndoita sei?</a:t>
            </a:r>
            <a:endParaRPr lang="en-US" sz="1150" dirty="0"/>
          </a:p>
        </p:txBody>
      </p:sp>
      <p:sp>
        <p:nvSpPr>
          <p:cNvPr id="27" name="Shape 19"/>
          <p:cNvSpPr/>
          <p:nvPr/>
        </p:nvSpPr>
        <p:spPr>
          <a:xfrm>
            <a:off x="7516368" y="3200400"/>
            <a:ext cx="3450031" cy="1307592"/>
          </a:xfrm>
          <a:prstGeom prst="roundRect">
            <a:avLst>
              <a:gd name="adj" fmla="val 6993"/>
            </a:avLst>
          </a:prstGeom>
          <a:solidFill>
            <a:srgbClr val="0E3A18"/>
          </a:solidFill>
          <a:ln w="12700">
            <a:solidFill>
              <a:srgbClr val="225C2E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7680960" y="3200400"/>
            <a:ext cx="3120847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CF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signs fit January Disease. Check for swollen glands behind the ear and a temperature above 39.5 °C. It is notifiable — you must report it to a DVS or police officer.</a:t>
            </a:r>
            <a:endParaRPr lang="en-US" sz="1150" dirty="0"/>
          </a:p>
        </p:txBody>
      </p:sp>
      <p:sp>
        <p:nvSpPr>
          <p:cNvPr id="29" name="Shape 21"/>
          <p:cNvSpPr/>
          <p:nvPr/>
        </p:nvSpPr>
        <p:spPr>
          <a:xfrm>
            <a:off x="7882128" y="4636008"/>
            <a:ext cx="3450031" cy="466344"/>
          </a:xfrm>
          <a:prstGeom prst="roundRect">
            <a:avLst>
              <a:gd name="adj" fmla="val 19608"/>
            </a:avLst>
          </a:prstGeom>
          <a:solidFill>
            <a:srgbClr val="1F7A2C"/>
          </a:solidFill>
          <a:ln w="12700">
            <a:solidFill>
              <a:srgbClr val="3E9B4C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8046720" y="4636008"/>
            <a:ext cx="3120847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E6F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I need before I can sell her?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7516368" y="5230368"/>
            <a:ext cx="3450031" cy="886968"/>
          </a:xfrm>
          <a:prstGeom prst="roundRect">
            <a:avLst>
              <a:gd name="adj" fmla="val 10309"/>
            </a:avLst>
          </a:prstGeom>
          <a:solidFill>
            <a:srgbClr val="0E3A18"/>
          </a:solidFill>
          <a:ln w="12700">
            <a:solidFill>
              <a:srgbClr val="225C2E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7680960" y="5230368"/>
            <a:ext cx="3120847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CF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brand mark on record, a vet health note, and police clearance. Two of the three are already on her file.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566928" y="625449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Jinda answers in the user's own words — including Shona — and pushes toward the legally required reporting step rather than "wait and see".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749808" cy="749808"/>
          </a:xfrm>
          <a:prstGeom prst="roundRect">
            <a:avLst>
              <a:gd name="adj" fmla="val 17073"/>
            </a:avLst>
          </a:prstGeom>
          <a:solidFill>
            <a:srgbClr val="FBC02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36192" y="365760"/>
            <a:ext cx="1008857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spc="-40" kern="0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COLLAR THAT WATCHES THE HERD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 not just build software. The collar is a real, buildable design — wiring diagrams, bill of materials and firmware included.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1956816"/>
            <a:ext cx="2560320" cy="1188720"/>
          </a:xfrm>
          <a:prstGeom prst="roundRect">
            <a:avLst>
              <a:gd name="adj" fmla="val 4615"/>
            </a:avLst>
          </a:prstGeom>
          <a:solidFill>
            <a:srgbClr val="1B5E20"/>
          </a:solidFill>
          <a:ln/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6384" y="2121408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FBC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CN-01 COLLAR NODE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6384" y="2432304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DB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ESP32-WROOM-32, solar + LiPo, worn on the animal</a:t>
            </a:r>
            <a:endParaRPr lang="en-US" sz="11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2468880"/>
            <a:ext cx="164592" cy="16459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346704" y="1956816"/>
            <a:ext cx="25603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566160" y="2121408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433 MHz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566160" y="2432304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range, no WiFi and no cell signal needed at the kraal</a:t>
            </a:r>
            <a:endParaRPr lang="en-US" sz="11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456" y="2468880"/>
            <a:ext cx="164592" cy="16459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126480" y="1956816"/>
            <a:ext cx="25603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345936" y="2121408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BS-01 BASE STATION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345936" y="2432304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at the farm — LoRa gateway bridging to WiFi</a:t>
            </a:r>
            <a:endParaRPr lang="en-US" sz="11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4232" y="2468880"/>
            <a:ext cx="164592" cy="164592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8906256" y="1956816"/>
            <a:ext cx="25603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9125712" y="2121408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API + APP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9125712" y="2432304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land in the animal's file; alerts hit the phone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66928" y="3529584"/>
            <a:ext cx="512064" cy="512064"/>
          </a:xfrm>
          <a:prstGeom prst="ellipse">
            <a:avLst/>
          </a:prstGeom>
          <a:solidFill>
            <a:srgbClr val="E7F3E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065" y="3662721"/>
            <a:ext cx="245791" cy="24579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07008" y="35112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DS18B20 probe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207008" y="37673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temperature — fever flagged automatically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346704" y="3529584"/>
            <a:ext cx="512064" cy="512064"/>
          </a:xfrm>
          <a:prstGeom prst="ellipse">
            <a:avLst/>
          </a:prstGeom>
          <a:solidFill>
            <a:srgbClr val="E7F3E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9841" y="3662721"/>
            <a:ext cx="245791" cy="24579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86784" y="35112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MAX30102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3986784" y="37673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rate, fused into the Vitality Index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126480" y="3529584"/>
            <a:ext cx="512064" cy="512064"/>
          </a:xfrm>
          <a:prstGeom prst="ellipse">
            <a:avLst/>
          </a:prstGeom>
          <a:solidFill>
            <a:srgbClr val="E7F3EA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9617" y="3662721"/>
            <a:ext cx="245791" cy="245791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766560" y="35112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MPU-6050 IMU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6766560" y="37673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and activity, filtered for sensor noise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8906256" y="3529584"/>
            <a:ext cx="512064" cy="512064"/>
          </a:xfrm>
          <a:prstGeom prst="ellipse">
            <a:avLst/>
          </a:prstGeom>
          <a:solidFill>
            <a:srgbClr val="E7F3EA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39393" y="3662721"/>
            <a:ext cx="245791" cy="245791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9546336" y="35112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NEO-6M GPS</a:t>
            </a:r>
            <a:endParaRPr lang="en-US" sz="1250" dirty="0"/>
          </a:p>
        </p:txBody>
      </p:sp>
      <p:sp>
        <p:nvSpPr>
          <p:cNvPr id="36" name="Text 27"/>
          <p:cNvSpPr/>
          <p:nvPr/>
        </p:nvSpPr>
        <p:spPr>
          <a:xfrm>
            <a:off x="9546336" y="37673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and geofence breach alerts</a:t>
            </a:r>
            <a:endParaRPr lang="en-US" sz="1100" dirty="0"/>
          </a:p>
        </p:txBody>
      </p:sp>
      <p:sp>
        <p:nvSpPr>
          <p:cNvPr id="37" name="Shape 28"/>
          <p:cNvSpPr/>
          <p:nvPr/>
        </p:nvSpPr>
        <p:spPr>
          <a:xfrm>
            <a:off x="566928" y="4626864"/>
            <a:ext cx="11057839" cy="131673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38" name="Text 29"/>
          <p:cNvSpPr/>
          <p:nvPr/>
        </p:nvSpPr>
        <p:spPr>
          <a:xfrm>
            <a:off x="841248" y="47548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PARTS WE ALREADY HAVE ON THE BENCH</a:t>
            </a:r>
            <a:endParaRPr lang="en-US" sz="1000" dirty="0"/>
          </a:p>
        </p:txBody>
      </p:sp>
      <p:pic>
        <p:nvPicPr>
          <p:cNvPr id="39" name="Image 7" descr="parts_esp32.jp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841248" y="5084064"/>
            <a:ext cx="969264" cy="658368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1938528" y="5084064"/>
            <a:ext cx="1207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ESP32-WROOM-32 devkit</a:t>
            </a:r>
            <a:endParaRPr lang="en-US" sz="1050" dirty="0"/>
          </a:p>
        </p:txBody>
      </p:sp>
      <p:pic>
        <p:nvPicPr>
          <p:cNvPr id="41" name="Image 8" descr="parts_mpu.jp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3218688" y="5084064"/>
            <a:ext cx="969264" cy="658368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4315968" y="5084064"/>
            <a:ext cx="1207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MPU-6050 (GY-521)</a:t>
            </a:r>
            <a:endParaRPr lang="en-US" sz="1050" dirty="0"/>
          </a:p>
        </p:txBody>
      </p:sp>
      <p:pic>
        <p:nvPicPr>
          <p:cNvPr id="43" name="Image 9" descr="parts_buck.jp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5596128" y="5084064"/>
            <a:ext cx="969264" cy="658368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6693408" y="5084064"/>
            <a:ext cx="1207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LM2596 buck converter</a:t>
            </a:r>
            <a:endParaRPr lang="en-US" sz="1050" dirty="0"/>
          </a:p>
        </p:txBody>
      </p:sp>
      <p:sp>
        <p:nvSpPr>
          <p:cNvPr id="45" name="Text 33"/>
          <p:cNvSpPr/>
          <p:nvPr/>
        </p:nvSpPr>
        <p:spPr>
          <a:xfrm>
            <a:off x="8156448" y="4937760"/>
            <a:ext cx="319399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Buildable today.
</a:t>
            </a:r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pin-level wiring, BOM with supplier links, and firmware for both boards are in the repo.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749808" cy="749808"/>
          </a:xfrm>
          <a:prstGeom prst="roundRect">
            <a:avLst>
              <a:gd name="adj" fmla="val 17073"/>
            </a:avLst>
          </a:prstGeom>
          <a:solidFill>
            <a:srgbClr val="FBC02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36192" y="365760"/>
            <a:ext cx="1008857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spc="-40" kern="0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ZIMBABWEAN LAW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headline feature maps to a specific Act — researched, cited, and in the repo for anyone who wants to check it.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83664"/>
          <a:ext cx="11057839" cy="914400"/>
        </p:xfrm>
        <a:graphic>
          <a:graphicData uri="http://schemas.openxmlformats.org/drawingml/2006/table">
            <a:tbl>
              <a:tblPr/>
              <a:tblGrid>
                <a:gridCol w="6967728"/>
                <a:gridCol w="4087368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spc="12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PFUMA ENFORCES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spc="12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LAW IT OPERATIONALIZES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F5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Listings start pending_clearance; an officer verifies ownership and brand papers and issues a movement-permit number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Theft Prevention Act [9:18]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F5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Vet signup requires a CVSZ registration number, peer-reviewed by an already-verified vet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Veterinary Surgeons Act [27:15]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F5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Animal records capture brand mark, tag ID and dip-tank; "no brand on record" is flagged before a sale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Brands Act + Livestock Identification Regs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F5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Jinda pushes toward DVS or police reporting when a notifiable-disease pattern appears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Animal Health Act [19:01]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F5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Cross-district sales prompt for a DVS veterinary movement permit alongside police clearance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"two-gate" movement process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F5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Retailer signup requires acknowledging disclosure, fixed pricing and the statutory right of return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 Protection Act [14:44]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2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5504688"/>
            <a:ext cx="11057839" cy="731520"/>
          </a:xfrm>
          <a:prstGeom prst="roundRect">
            <a:avLst>
              <a:gd name="adj" fmla="val 7500"/>
            </a:avLst>
          </a:prstGeom>
          <a:solidFill>
            <a:srgbClr val="FFF8E1"/>
          </a:solidFill>
          <a:ln w="12700">
            <a:solidFill>
              <a:srgbClr val="EBD9A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" y="5504688"/>
            <a:ext cx="105091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 honestly: 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5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researched and citable, not a lawyer-certified audit. Sources are ZimLII, FAOLEX, CVSZ, Veritas and the Consumer Council — and where a detail could not be confirmed, the research says so plainly instead of guessing.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749808" cy="749808"/>
          </a:xfrm>
          <a:prstGeom prst="roundRect">
            <a:avLst>
              <a:gd name="adj" fmla="val 17073"/>
            </a:avLst>
          </a:prstGeom>
          <a:solidFill>
            <a:srgbClr val="FBC02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36192" y="365760"/>
            <a:ext cx="1008857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spc="-40" kern="0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CHANGES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57839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73352"/>
            <a:ext cx="512064" cy="512064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097" y="1806489"/>
            <a:ext cx="245791" cy="2457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99616" y="1517904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FARMER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13632" y="1517904"/>
            <a:ext cx="7436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he can prove, disease caught early, and a fair, documented sales channel instead of an isolated lowball offer. Verified profiles and clean sale history also make livestock wealth easier to borrow against.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66928" y="2450592"/>
            <a:ext cx="11057839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606040"/>
            <a:ext cx="512064" cy="512064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097" y="2739177"/>
            <a:ext cx="245791" cy="24579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99616" y="245059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VETERINARIAN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913632" y="2450592"/>
            <a:ext cx="7436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wasted trips and real outbreak visibility. Province and district tagging builds exactly the regional surveillance data DVS needs for contact tracing.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66928" y="3383280"/>
            <a:ext cx="11057839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2960" y="3538728"/>
            <a:ext cx="512064" cy="512064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097" y="3671865"/>
            <a:ext cx="245791" cy="24579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99616" y="33832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SUPPLIERS AND RETAILERS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3913632" y="3383280"/>
            <a:ext cx="7436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 channel to the farmers who need their stock, and buyers who are no longer one bad purchase away from a receiving-stolen-goods charge.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66928" y="4315968"/>
            <a:ext cx="11057839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22960" y="4471416"/>
            <a:ext cx="512064" cy="512064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097" y="4604553"/>
            <a:ext cx="245791" cy="24579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99616" y="431596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POLICE AND DVS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3913632" y="4315968"/>
            <a:ext cx="7436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 stops being a paper courtesy and becomes a structural gate. Officers review from a queue instead of chasing paperwork on foot.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566928" y="5248656"/>
            <a:ext cx="11057839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22960" y="5404104"/>
            <a:ext cx="512064" cy="512064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097" y="5537241"/>
            <a:ext cx="245791" cy="24579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499616" y="5248656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COUNTRY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913632" y="5248656"/>
            <a:ext cx="7436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disease deaths, less theft, better price discovery and easier access to vets compound into real rural household income — a measurable outcome, not a technology showcase.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566928" y="625449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signup flow accepts title deeds, 99-year leases, offer letters, A1/A2 permits and communal land allocation letters — so communal farmers are not excluded by design.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749808" cy="749808"/>
          </a:xfrm>
          <a:prstGeom prst="roundRect">
            <a:avLst>
              <a:gd name="adj" fmla="val 17073"/>
            </a:avLst>
          </a:prstGeom>
          <a:solidFill>
            <a:srgbClr val="FBC02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36192" y="365760"/>
            <a:ext cx="1008857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spc="-40" kern="0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ACTUALLY BUILT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projects at this stage are a UI mockup. Here is what already runs.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1901952"/>
            <a:ext cx="3602736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176272"/>
            <a:ext cx="548640" cy="548640"/>
          </a:xfrm>
          <a:prstGeom prst="ellipse">
            <a:avLst/>
          </a:prstGeom>
          <a:solidFill>
            <a:srgbClr val="E7F3E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894" y="2318918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36192" y="2176272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backend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41248" y="2816352"/>
            <a:ext cx="30540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PyMySQL with 30+ endpoints — not a stubbed demo API.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70832" y="1901952"/>
            <a:ext cx="3602736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45152" y="2176272"/>
            <a:ext cx="548640" cy="548640"/>
          </a:xfrm>
          <a:prstGeom prst="ellipse">
            <a:avLst/>
          </a:prstGeom>
          <a:solidFill>
            <a:srgbClr val="E7F3E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7798" y="2318918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0096" y="2176272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database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645152" y="2816352"/>
            <a:ext cx="30540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MySQL schema covering animals, health records, listings, clearances and users.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74736" y="1901952"/>
            <a:ext cx="3602736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49056" y="2176272"/>
            <a:ext cx="548640" cy="548640"/>
          </a:xfrm>
          <a:prstGeom prst="ellipse">
            <a:avLst/>
          </a:prstGeom>
          <a:solidFill>
            <a:srgbClr val="E7F3E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1702" y="2318918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44000" y="2176272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security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449056" y="2816352"/>
            <a:ext cx="30540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hashing, JWT sessions, per-owner scoping, uploads served outside the web root.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66928" y="3858768"/>
            <a:ext cx="3602736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41248" y="4133088"/>
            <a:ext cx="548640" cy="548640"/>
          </a:xfrm>
          <a:prstGeom prst="ellipse">
            <a:avLst/>
          </a:prstGeom>
          <a:solidFill>
            <a:srgbClr val="E7F3E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894" y="4275734"/>
            <a:ext cx="263347" cy="26334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536192" y="4133088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+ mobile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841248" y="4773168"/>
            <a:ext cx="30540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(Vite) + Tailwind on the desktop, an Expo app on the phone, one API behind both.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370832" y="3858768"/>
            <a:ext cx="3602736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45152" y="4133088"/>
            <a:ext cx="548640" cy="548640"/>
          </a:xfrm>
          <a:prstGeom prst="ellipse">
            <a:avLst/>
          </a:prstGeom>
          <a:solidFill>
            <a:srgbClr val="E7F3EA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7798" y="4275734"/>
            <a:ext cx="263347" cy="263347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340096" y="4133088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design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4645152" y="4773168"/>
            <a:ext cx="30540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boards, full pin-level wiring, BOM with supplier links, firmware for both.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8174736" y="3858768"/>
            <a:ext cx="3602736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449056" y="4133088"/>
            <a:ext cx="548640" cy="548640"/>
          </a:xfrm>
          <a:prstGeom prst="ellipse">
            <a:avLst/>
          </a:prstGeom>
          <a:solidFill>
            <a:srgbClr val="E7F3EA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1702" y="4275734"/>
            <a:ext cx="263347" cy="263347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144000" y="4133088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Cited legal research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8449056" y="4773168"/>
            <a:ext cx="30540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Acts mapped to features, with sources — and the gaps named rather than hidden.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566928" y="5687568"/>
            <a:ext cx="11057839" cy="621792"/>
          </a:xfrm>
          <a:prstGeom prst="roundRect">
            <a:avLst>
              <a:gd name="adj" fmla="val 8824"/>
            </a:avLst>
          </a:prstGeom>
          <a:solidFill>
            <a:srgbClr val="1B5E20"/>
          </a:solidFill>
          <a:ln/>
        </p:spPr>
      </p:sp>
      <p:sp>
        <p:nvSpPr>
          <p:cNvPr id="37" name="Text 29"/>
          <p:cNvSpPr/>
          <p:nvPr/>
        </p:nvSpPr>
        <p:spPr>
          <a:xfrm>
            <a:off x="841248" y="5687568"/>
            <a:ext cx="1050919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the boring, unglamorous part first — real auth, real database, real legal research. That is the difference between a showcase and a system.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749808" cy="749808"/>
          </a:xfrm>
          <a:prstGeom prst="roundRect">
            <a:avLst>
              <a:gd name="adj" fmla="val 17073"/>
            </a:avLst>
          </a:prstGeom>
          <a:solidFill>
            <a:srgbClr val="FBC02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36192" y="365760"/>
            <a:ext cx="1008857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spc="-40" kern="0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YOU'LL GET AT THE STAND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5504688" cy="1865376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1792224"/>
            <a:ext cx="475488" cy="475488"/>
          </a:xfrm>
          <a:prstGeom prst="ellipse">
            <a:avLst/>
          </a:prstGeom>
          <a:solidFill>
            <a:srgbClr val="FBC02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875" y="1915851"/>
            <a:ext cx="228234" cy="22823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44752" y="1755648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a farmer doesn't have a smartphone?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1248" y="2377440"/>
            <a:ext cx="4956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gap in version one — it needs a phone or the web app. Every digital agriculture tool has to solve it. It is on the roadmap, not something we pretend isn't a limitation.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00216" y="1517904"/>
            <a:ext cx="5504688" cy="1865376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74536" y="1792224"/>
            <a:ext cx="475488" cy="475488"/>
          </a:xfrm>
          <a:prstGeom prst="ellipse">
            <a:avLst/>
          </a:prstGeom>
          <a:solidFill>
            <a:srgbClr val="FBC02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8163" y="1915851"/>
            <a:ext cx="228234" cy="22823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78040" y="1755648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Isn't this just another app abandoned in a year?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574536" y="2377440"/>
            <a:ext cx="4956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the unglamorous part first: real authentication, a real database, real legal research. Most projects at this stage are a mockup — ours has a working backend and hardware you could order parts for today.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66928" y="3584448"/>
            <a:ext cx="5504688" cy="1865376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1248" y="3858768"/>
            <a:ext cx="475488" cy="475488"/>
          </a:xfrm>
          <a:prstGeom prst="ellipse">
            <a:avLst/>
          </a:prstGeom>
          <a:solidFill>
            <a:srgbClr val="FBC02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875" y="3982395"/>
            <a:ext cx="228234" cy="22823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44752" y="382219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is this different from calling the vet or the police?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41248" y="4443984"/>
            <a:ext cx="4956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still call them. PFUMA doesn't replace the relationship, it gives it a paper trail. A phone call disappears. A record in PFUMA doesn't.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300216" y="3584448"/>
            <a:ext cx="5504688" cy="1865376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8E6DB"/>
            </a:solidFill>
            <a:prstDash val="solid"/>
          </a:ln>
          <a:effectLst>
            <a:outerShdw sx="100000" sy="100000" kx="0" ky="0" algn="bl" rotWithShape="0" blurRad="127000" dist="25400" dir="5400000">
              <a:srgbClr val="1B5E2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74536" y="3858768"/>
            <a:ext cx="475488" cy="475488"/>
          </a:xfrm>
          <a:prstGeom prst="ellipse">
            <a:avLst/>
          </a:prstGeom>
          <a:solidFill>
            <a:srgbClr val="FBC02D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8163" y="3982395"/>
            <a:ext cx="228234" cy="22823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78040" y="382219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stops a fake officer approving fake sales?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574536" y="4443984"/>
            <a:ext cx="4956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accounts aren't self-signup. An existing verified officer creates and vouches for the next one — the same way real ZRP units onboard members. You cannot register as police off the street.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566928" y="5577840"/>
            <a:ext cx="11057839" cy="658368"/>
          </a:xfrm>
          <a:prstGeom prst="roundRect">
            <a:avLst>
              <a:gd name="adj" fmla="val 8333"/>
            </a:avLst>
          </a:prstGeom>
          <a:solidFill>
            <a:srgbClr val="EAF4EC"/>
          </a:solidFill>
          <a:ln w="12700">
            <a:solidFill>
              <a:srgbClr val="CFE3D4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841248" y="5577840"/>
            <a:ext cx="105091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dodge these — they are good questions,  </a:t>
            </a:r>
            <a:pPr indent="0" marL="0">
              <a:buNone/>
            </a:pPr>
            <a:r>
              <a:rPr lang="en-US" sz="1300" dirty="0">
                <a:solidFill>
                  <a:srgbClr val="3F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answering them straight is what makes the rest of the pitch believable.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749808" cy="749808"/>
          </a:xfrm>
          <a:prstGeom prst="roundRect">
            <a:avLst>
              <a:gd name="adj" fmla="val 17073"/>
            </a:avLst>
          </a:prstGeom>
          <a:solidFill>
            <a:srgbClr val="FBC02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36192" y="365760"/>
            <a:ext cx="1008857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spc="-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PFUMA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737360"/>
            <a:ext cx="694944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700"/>
              </a:lnSpc>
              <a:buNone/>
            </a:pPr>
            <a:r>
              <a:rPr lang="en-US" sz="3600" b="1" spc="-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Pfuma means wealth.</a:t>
            </a:r>
            <a:endParaRPr lang="en-US" sz="3600" dirty="0"/>
          </a:p>
          <a:p>
            <a:pPr indent="0" marL="0">
              <a:lnSpc>
                <a:spcPts val="4700"/>
              </a:lnSpc>
              <a:buNone/>
            </a:pPr>
            <a:r>
              <a:rPr lang="en-US" sz="3600" b="1" spc="-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built what protects it.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66928" y="338328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E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roles, one shared record. A sale that cannot go live until police clear it. An AI assistant that answers in a farmer's own words, and a collar that raises the alarm before anyone notices the animal is gone.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699248" y="1737360"/>
            <a:ext cx="3925519" cy="1755648"/>
          </a:xfrm>
          <a:prstGeom prst="roundRect">
            <a:avLst>
              <a:gd name="adj" fmla="val 3125"/>
            </a:avLst>
          </a:prstGeom>
          <a:solidFill>
            <a:srgbClr val="FBC02D"/>
          </a:solidFill>
          <a:ln/>
        </p:spPr>
      </p:sp>
      <p:sp>
        <p:nvSpPr>
          <p:cNvPr id="8" name="Text 6"/>
          <p:cNvSpPr/>
          <p:nvPr/>
        </p:nvSpPr>
        <p:spPr>
          <a:xfrm>
            <a:off x="7973568" y="195681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7A5A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IT LIVE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973568" y="2286000"/>
            <a:ext cx="3376879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A2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demo account takes thirty seconds — look around as any role you like, even Police.</a:t>
            </a:r>
            <a:endParaRPr lang="en-US" sz="15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5824" y="4087368"/>
            <a:ext cx="237744" cy="2377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138160" y="4041648"/>
            <a:ext cx="34866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teamgriwd@gmail.com</a:t>
            </a:r>
            <a:endParaRPr lang="en-US" sz="13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5824" y="454456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138160" y="4498848"/>
            <a:ext cx="34866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GRIWD · Arnold T. Mapindu · Adrianny Jaliele</a:t>
            </a:r>
            <a:endParaRPr lang="en-US" sz="13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824" y="500176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38160" y="4956048"/>
            <a:ext cx="34866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Zimbabwe Agricultural Show 2026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566928" y="4700016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FBC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only remember five things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566928" y="5029200"/>
            <a:ext cx="67665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300"/>
              </a:spcAft>
              <a:buSzPct val="100000"/>
              <a:buChar char="▪"/>
            </a:pPr>
            <a:r>
              <a:rPr lang="en-US" sz="1300" dirty="0">
                <a:solidFill>
                  <a:srgbClr val="E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Pfuma = wealth, and this protects it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300"/>
              </a:spcAft>
              <a:buSzPct val="100000"/>
              <a:buChar char="▪"/>
            </a:pPr>
            <a:r>
              <a:rPr lang="en-US" sz="1300" dirty="0">
                <a:solidFill>
                  <a:srgbClr val="E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roles, one shared record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300"/>
              </a:spcAft>
              <a:buSzPct val="100000"/>
              <a:buChar char="▪"/>
            </a:pPr>
            <a:r>
              <a:rPr lang="en-US" sz="1300" dirty="0">
                <a:solidFill>
                  <a:srgbClr val="E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sale can't go live until police clear it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300"/>
              </a:spcAft>
              <a:buSzPct val="100000"/>
              <a:buChar char="▪"/>
            </a:pPr>
            <a:r>
              <a:rPr lang="en-US" sz="1300" dirty="0">
                <a:solidFill>
                  <a:srgbClr val="E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500,000+ cattle lost since 2016 · 3,400+ arrests in one crackdown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300"/>
              </a:spcAft>
              <a:buSzPct val="100000"/>
              <a:buChar char="▪"/>
            </a:pPr>
            <a:r>
              <a:rPr lang="en-US" sz="1300" dirty="0">
                <a:solidFill>
                  <a:srgbClr val="E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real — working backend, real hardware, cited legal research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PFUMA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PFUMA — Zimbabwe Agricultural Show 2026</dc:title>
  <dc:subject>PptxGenJS Presentation</dc:subject>
  <dc:creator>Team GRIWD</dc:creator>
  <cp:lastModifiedBy>Team GRIWD</cp:lastModifiedBy>
  <cp:revision>1</cp:revision>
  <dcterms:created xsi:type="dcterms:W3CDTF">2026-08-06T09:40:12Z</dcterms:created>
  <dcterms:modified xsi:type="dcterms:W3CDTF">2026-08-06T09:40:12Z</dcterms:modified>
</cp:coreProperties>
</file>