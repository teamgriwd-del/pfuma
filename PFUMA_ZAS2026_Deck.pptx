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Hook, say it first: Pfuma is the Shona word for wealth — and for a rural family, that wealth is usually standing in the kraal. We built an app that protects it: stops your cattle being stolen, catches disease before it spreads, and gets police and vets involved digitally instead of on foot. Then stop talking and let them ask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opener depending on who is in front of you. To a farmer: how do you prove a cow is really yours if someone disputes it? To anyone: January Disease has killed 500,000+ cattle since 2016. To a skeptic: theft, disputes and outbreaks are tracked on paper, by memory, or not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the conversation by who they are — ask what they do, then use the matching pitch. If they push on fake officers: police accounts aren't self-signup, an existing verified officer creates and vouches for the next one, the same way real ZRP units onboard.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getting them to DO something: offer a demo account on the spot. If they're a farmer, vet or supplier genuinely interested, take their contact — a follow-up after the show is worth more than a booth conversation they forget by the next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ZIMBABWE AGRICULTURAL SHOW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7498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PFUMA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621792" y="2761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pfuma</a:t>
            </a:r>
            <a:pPr indent="0" marL="0">
              <a:buNone/>
            </a:pPr>
            <a:r>
              <a:rPr lang="en-US" sz="19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Shona word for wealth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" y="32552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agri-health intelligence for Zimbabwe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1792" y="376732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rural family, that wealth is standing in the kraal.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system that protects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791456"/>
            <a:ext cx="1887322" cy="402336"/>
          </a:xfrm>
          <a:prstGeom prst="roundRect">
            <a:avLst>
              <a:gd name="adj" fmla="val 50000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791456"/>
            <a:ext cx="18873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ROLES · 1 RECORD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18842" y="4791456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8842" y="47914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POLICE-CLEARED SALES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9978" y="4791456"/>
            <a:ext cx="2156155" cy="402336"/>
          </a:xfrm>
          <a:prstGeom prst="roundRect">
            <a:avLst>
              <a:gd name="adj" fmla="val 50000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9978" y="4791456"/>
            <a:ext cx="2156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IN SHONA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5705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GRIWD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59801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 T. Mapindu  ·  Adrianny Jaliele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23760" y="886968"/>
            <a:ext cx="4846320" cy="4846320"/>
          </a:xfrm>
          <a:prstGeom prst="ellipse">
            <a:avLst/>
          </a:prstGeom>
          <a:ln w="15875">
            <a:solidFill>
              <a:srgbClr val="1D4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344168"/>
            <a:ext cx="3931920" cy="3931920"/>
          </a:xfrm>
          <a:prstGeom prst="ellipse">
            <a:avLst/>
          </a:prstGeom>
          <a:ln w="15875">
            <a:solidFill>
              <a:srgbClr val="2460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01368"/>
            <a:ext cx="3017520" cy="3017520"/>
          </a:xfrm>
          <a:prstGeom prst="ellipse">
            <a:avLst/>
          </a:prstGeom>
          <a:ln w="15875">
            <a:solidFill>
              <a:srgbClr val="2E7D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6216" y="2249424"/>
            <a:ext cx="2121408" cy="2121408"/>
          </a:xfrm>
          <a:prstGeom prst="ellipse">
            <a:avLst/>
          </a:prstGeom>
          <a:solidFill>
            <a:srgbClr val="1B5E20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264" y="2633472"/>
            <a:ext cx="1353312" cy="135331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363456" y="1060704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57" y="1208105"/>
            <a:ext cx="272125" cy="27212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1233195" y="241914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0596" y="2566550"/>
            <a:ext cx="272125" cy="27212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519018" y="461715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20" y="4764560"/>
            <a:ext cx="272125" cy="2721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207894" y="461715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295" y="4764560"/>
            <a:ext cx="272125" cy="27212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493717" y="241914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1118" y="2566550"/>
            <a:ext cx="272125" cy="272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is often a rural family's largest store of wealth. It is also the least protected asset they own.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1993392"/>
            <a:ext cx="3401568" cy="3054096"/>
          </a:xfrm>
          <a:prstGeom prst="roundRect">
            <a:avLst>
              <a:gd name="adj" fmla="val 1796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04288"/>
            <a:ext cx="603504" cy="603504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" y="24611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301752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500,000+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77824" y="37307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JANUARY DISEASE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824" y="4096512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Theileriosis has killed more than half a million cattle in Zimbabwe since 2016. Most of that is preventable if it is caught early.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61104" y="1993392"/>
            <a:ext cx="3401568" cy="3054096"/>
          </a:xfrm>
          <a:prstGeom prst="roundRect">
            <a:avLst>
              <a:gd name="adj" fmla="val 1796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304288"/>
            <a:ext cx="603504" cy="60350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11" y="2461199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01752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3,400+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4572000" y="37307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ARRESTS IN ONE CRACKDOWN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0" y="4096512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theft is organised, not occasional. A single ZRP operation produced over three thousand four hundred arrests.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55280" y="1993392"/>
            <a:ext cx="3401568" cy="3054096"/>
          </a:xfrm>
          <a:prstGeom prst="roundRect">
            <a:avLst>
              <a:gd name="adj" fmla="val 1796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66176" y="2304288"/>
            <a:ext cx="603504" cy="603504"/>
          </a:xfrm>
          <a:prstGeom prst="ellipse">
            <a:avLst/>
          </a:prstGeom>
          <a:solidFill>
            <a:srgbClr val="F9736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7" y="2461199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66176" y="301752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97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22" name="Text 17"/>
          <p:cNvSpPr/>
          <p:nvPr/>
        </p:nvSpPr>
        <p:spPr>
          <a:xfrm>
            <a:off x="8266176" y="37307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DIGITAL RECORDS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266176" y="4096512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Theft, ownership disputes and outbreaks are tracked on paper, by memory, or not at all. A phone call disappears.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66928" y="523036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0E2A16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77824" y="5230368"/>
            <a:ext cx="1043604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goodwill — it's proof.  </a:t>
            </a:r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cannot clear a sale they have no visibility into, and a buyer cannot check a story he has only been told.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PFUMA 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49961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Five kinds of account.</a:t>
            </a:r>
            <a:endParaRPr lang="en-US" sz="25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livestock record.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216" y="2633472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3" y="276660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6151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registers an animal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80160" y="290779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Breed, tag ID, brand mark, dip-tank and health history — recorded once, kept for life.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5216" y="3566160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3" y="369929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5478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vet certifies its health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280160" y="384048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Consultations, treatments and certificates become part of that animal's permanent file.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85216" y="4498848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3" y="4631985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4805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officer must clear it before sale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80160" y="477316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brand papers verified, movement-permit number issued. Built in, not optional.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5216" y="5431536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53" y="5564673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54132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buyer sees all of it before paying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280160" y="570585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stranger's word — a record, with the vet note and the clearance attached.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479792" y="1499616"/>
            <a:ext cx="4144975" cy="3218688"/>
          </a:xfrm>
          <a:prstGeom prst="roundRect">
            <a:avLst>
              <a:gd name="adj" fmla="val 1705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1847088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45552" y="2487168"/>
            <a:ext cx="3413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paper trail everyone already should have — except it's real, it's digital, and nobody can fake it after the fact.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845552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30-SECOND ANSWER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7479792" y="5102352"/>
            <a:ext cx="4144975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754112" y="5102352"/>
            <a:ext cx="359633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the vet or the police.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PFUMA gives that relationship a paper trail. A phone call disappears; a record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ROLES, ONE RECORD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195791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animals once — breed, tag, brand, health. Then gets weight tracking, vaccination due-dates and overdue flags, and a verified profile buyers trust.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89504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63824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225" y="195791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45536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VETERINARIAN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145536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caseload dashboard by province and district — real surveillance data, not guesswork. Farmers consult directly; certificates become permanent record.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12080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0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801" y="195791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68112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68112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medicine and vaccines sold straight to the farmers in each district who need them — instead of a phone call and a guess.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534656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08976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377" y="195791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90688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/ BUYER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90688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has passed police clearance, and usually a vet certificate, before it is even visible. You buy a record, not a promise.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857232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31552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953" y="1957913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13264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113264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signup applications, verifies ownership and brand papers, and issues the movement-permit number that unlocks a sale.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66928" y="513892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EAF4EC"/>
          </a:solidFill>
          <a:ln w="12700">
            <a:solidFill>
              <a:srgbClr val="CFE3D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41248" y="513892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self-certifies.  </a:t>
            </a:r>
            <a:pPr indent="0" marL="0"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accounts are provisioned by an existing verified officer — never self-service. Vet applications are peer-reviewed by an already-verified vet. Every role uploads an ID plus a role-specific credential.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they do, then use the matching pitch — the same platform sounds different to a farmer, a vet and a buyer.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OF ONE ANIMAL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as a story, not a diagram — it is the same file, growing over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232367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22960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records breed, tag ID, brand mark and dip-tank details. No brand on record is flagged as a risk before any sale.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324612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89504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63824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225" y="232367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42816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3145536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145536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vaccinations, weaning and gestation run on countdowns. Overdue, due today and upcoming are colour-coded, not remembered.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3246120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212080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0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801" y="2323673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65392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17"/>
          <p:cNvSpPr/>
          <p:nvPr/>
        </p:nvSpPr>
        <p:spPr>
          <a:xfrm>
            <a:off x="5468112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468112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messages a vet in-app. The vet reviews, treats, and can order medicine from a supplier — three roles, one system.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3246120"/>
            <a:ext cx="164592" cy="1645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534656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808976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6377" y="2323673"/>
            <a:ext cx="272125" cy="27212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887968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31" name="Text 22"/>
          <p:cNvSpPr/>
          <p:nvPr/>
        </p:nvSpPr>
        <p:spPr>
          <a:xfrm>
            <a:off x="7790688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790688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opens as pending_clearance. An officer verifies ownership and brand papers and issues a movement-permit number.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496" y="3246120"/>
            <a:ext cx="164592" cy="16459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857232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10131552" y="2176272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8953" y="2323673"/>
            <a:ext cx="272125" cy="27212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1210544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4E9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38" name="Text 27"/>
          <p:cNvSpPr/>
          <p:nvPr/>
        </p:nvSpPr>
        <p:spPr>
          <a:xfrm>
            <a:off x="10113264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10113264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F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 can buyers see it. The vet's health record and the police clearance travel with the sale.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566928" y="5047488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1B5E20"/>
          </a:solidFill>
          <a:ln/>
        </p:spPr>
      </p:sp>
      <p:sp>
        <p:nvSpPr>
          <p:cNvPr id="41" name="Text 30"/>
          <p:cNvSpPr/>
          <p:nvPr/>
        </p:nvSpPr>
        <p:spPr>
          <a:xfrm>
            <a:off x="859536" y="5047488"/>
            <a:ext cx="104726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feature: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 cannot go live until an officer clears it. That gate lives in the software, not in a policy document — which is exactly why it doesn't get skipped.</a:t>
            </a:r>
            <a:endParaRPr lang="en-US" sz="1350" dirty="0"/>
          </a:p>
        </p:txBody>
      </p:sp>
      <p:sp>
        <p:nvSpPr>
          <p:cNvPr id="42" name="Text 31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the same animal's file — a farmer who registers once never re-enters 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PLATFORM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91658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Jinda AI Assistant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on disease, law and herd analytics. Role-aware.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822" y="1916582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Diagnostics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94176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secondary symptom matching, with multi-step action plans.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38" y="191658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&amp; Compliance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65392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Weaning and gestation countdowns; overdue, due today, upcoming.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80576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36608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254" y="1916582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36608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&amp; Clearance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436608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bids and movement-permit records, gated on police sign-off.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092854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Advisory Portal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22960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by province and district, plus DVS regional hotlines.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438144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94176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6822" y="4092854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94176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Oversight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694176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review queue and sale-clearance queue with permit numbers.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309360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65392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8038" y="4092854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5392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Library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565392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Zimbabwean livestock law; cattle, pigs, sheep and goats.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9180576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436608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9254" y="4092854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436608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Access Control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9436608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passwords, JWT sessions, strict per-owner data scoping.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web app · Expo mobile app · Flask + PyMySQL API · MySQL · Recharts.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JINDA — THE AI FARM ASSISTANT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56362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5179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 plain language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9264" y="18105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farmer with a phone, not a technician with a manual. Natural-language questions, no forms to learn.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24140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what actually kills herds here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69264" y="27066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Disease (Theileriosis), Anthrax, Foot and Mouth, Lumpy Skin, African Swine Fever, and cattle gestation and weaning standards.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5584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264" y="3310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the law, and says so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69264" y="36027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the cited compliance research to answer "what do I legally need to keep or sell this animal?"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2519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9264" y="4206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herd maths for you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69264" y="44988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 size, health trends and analytics on request — and it will navigate the app when asked.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5148072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9264" y="51023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Role-aware by design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969264" y="5394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discuss another user's animals. A vet sees oversight; a farmer sees only their own.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223760" y="1517904"/>
            <a:ext cx="4401007" cy="4626864"/>
          </a:xfrm>
          <a:prstGeom prst="roundRect">
            <a:avLst>
              <a:gd name="adj" fmla="val 1247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516368" y="1700784"/>
            <a:ext cx="512064" cy="512064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505" y="1833921"/>
            <a:ext cx="245791" cy="24579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38160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JINDA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138160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assistant · online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7882128" y="2395728"/>
            <a:ext cx="3450031" cy="676656"/>
          </a:xfrm>
          <a:prstGeom prst="roundRect">
            <a:avLst>
              <a:gd name="adj" fmla="val 13514"/>
            </a:avLst>
          </a:prstGeom>
          <a:solidFill>
            <a:srgbClr val="1F7A2C"/>
          </a:solidFill>
          <a:ln w="12700">
            <a:solidFill>
              <a:srgbClr val="3E9B4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046720" y="2395728"/>
            <a:ext cx="31208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Mombe yangu iri kudedera uye haisi kudya. Ndoita sei?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516368" y="3200400"/>
            <a:ext cx="3450031" cy="1307592"/>
          </a:xfrm>
          <a:prstGeom prst="roundRect">
            <a:avLst>
              <a:gd name="adj" fmla="val 6993"/>
            </a:avLst>
          </a:prstGeom>
          <a:solidFill>
            <a:srgbClr val="0E3A18"/>
          </a:solidFill>
          <a:ln w="12700">
            <a:solidFill>
              <a:srgbClr val="225C2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680960" y="3200400"/>
            <a:ext cx="3120847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CF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signs fit January Disease. Check for swollen glands behind the ear and a temperature above 39.5 °C. It is notifiable — you must report it to a DVS or police officer.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882128" y="4636008"/>
            <a:ext cx="3450031" cy="466344"/>
          </a:xfrm>
          <a:prstGeom prst="roundRect">
            <a:avLst>
              <a:gd name="adj" fmla="val 19608"/>
            </a:avLst>
          </a:prstGeom>
          <a:solidFill>
            <a:srgbClr val="1F7A2C"/>
          </a:solidFill>
          <a:ln w="12700">
            <a:solidFill>
              <a:srgbClr val="3E9B4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046720" y="4636008"/>
            <a:ext cx="312084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need before I can sell her?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7516368" y="5230368"/>
            <a:ext cx="3450031" cy="886968"/>
          </a:xfrm>
          <a:prstGeom prst="roundRect">
            <a:avLst>
              <a:gd name="adj" fmla="val 10309"/>
            </a:avLst>
          </a:prstGeom>
          <a:solidFill>
            <a:srgbClr val="0E3A18"/>
          </a:solidFill>
          <a:ln w="12700">
            <a:solidFill>
              <a:srgbClr val="225C2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680960" y="5230368"/>
            <a:ext cx="312084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CF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mark on record, a vet health note, and police clearance. Two of the three are already on her file.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Jinda answers in the user's own words — including Shona — and pushes toward the legally required reporting step rather than "wait and see".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ZIMBABWEAN LAW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feature maps to a specific Act — researched, cited, and in the repo for anyone who wants to check it.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6967728"/>
                <a:gridCol w="408736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PFUMA ENFORCES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LAW IT OPERATIONALIZES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start pending_clearance; an officer verifies ownership and brand papers and issues a movement-permit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Theft Prevention Act [9:18]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 signup requires a CVSZ registration number, peer-reviewed by an already-verified vet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Veterinary Surgeons Act [27:15]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records capture brand mark, tag ID and dip-tank; "no brand on record" is flagged before a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 Act + Livestock Identification Regs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Jinda pushes toward DVS or police reporting when a notifiable-disease pattern appears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Health Act [19:01]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Cross-district sales prompt for a DVS veterinary movement permit alongside police clearance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"two-gate" movement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 signup requires acknowledging disclosure, fixed pricing and the statutory right of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Protection Act [14:44]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50468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 w="12700">
            <a:solidFill>
              <a:srgbClr val="EBD9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50468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honestly: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researched and citable, not a lawyer-certified audit. Sources are ZimLII, FAOLEX, CVSZ, Veritas and the Consumer Council — and where a detail could not be confirmed, the research says so plainly instead of guessing.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CHANGES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73352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97" y="180648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15179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FARMER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13632" y="1517904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he can prove, disease caught early, and a fair, documented sales channel instead of an isolated lowball offer. Verified profiles and clean sale history also make livestock wealth easier to borrow against.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450592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606040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273917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99616" y="24505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VETERINARIAN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13632" y="2450592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trips and real outbreak visibility. Province and district tagging builds exactly the regional surveillance data DVS needs for contact tracing.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38328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538728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97" y="367186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9616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SUPPLIERS AND RETAILERS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913632" y="3383280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channel to the farmers who need their stock, and buyers who are no longer one bad purchase away from a receiving-stolen-goods charge.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66928" y="4315968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471416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97" y="4604553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9616" y="43159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POLICE AND DVS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913632" y="4315968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stops being a paper courtesy and becomes a structural gate. Officers review from a queue instead of chasing paperwork on foot.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524865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404104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97" y="5537241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99616" y="524865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COUNTRY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13632" y="5248656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disease deaths, less theft, better price discovery and easier access to vets compound into real rural household income — a measurable outcome, not a technology showcase.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signup flow accepts title deeds, 99-year leases, offer letters, A1/A2 permits and communal land allocation letters — so communal farmers are not excluded by design.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BUILT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at this stage are a UI mockup. Here is what already runs.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901952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76272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2318918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1762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backend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2816352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PyMySQL with 30+ endpoints — not a stubbed demo API.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1901952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176272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798" y="23189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0096" y="21762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database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5152" y="2816352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schema covering animals, health records, listings, clearances and users.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74736" y="1901952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176272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2" y="231891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21762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security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49056" y="2816352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hashing, JWT sessions, per-owner scoping, uploads served outside the web root.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858768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413308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4275734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41248" y="477316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on the desktop, an Expo app on the phone, one API behind both.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70832" y="3858768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5152" y="413308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798" y="4275734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0096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logic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645152" y="477316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diagnostics engine and regional protocol data are covered by a passing test suite.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74736" y="3858768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49056" y="413308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1702" y="4275734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0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legal research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449056" y="477316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Acts mapped to features, with sources — and the gaps named rather than hidden.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5687568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1B5E20"/>
          </a:solidFill>
          <a:ln/>
        </p:spPr>
      </p:sp>
      <p:sp>
        <p:nvSpPr>
          <p:cNvPr id="37" name="Text 29"/>
          <p:cNvSpPr/>
          <p:nvPr/>
        </p:nvSpPr>
        <p:spPr>
          <a:xfrm>
            <a:off x="841248" y="5687568"/>
            <a:ext cx="105091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boring, unglamorous part first — real auth, real database, real legal research. That is the difference between a showcase and a system.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YOU'LL GET AT THE STAND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92224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75" y="1915851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75564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 farmer doesn't have a smartphone?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37744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gap in version one — it needs a phone or the web app. Every digital agriculture tool has to solve it. It is on the roadmap, not something we pretend isn't a limitation.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0216" y="1517904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4536" y="1792224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163" y="191585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75564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this just another app abandoned in a year?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74536" y="237744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unglamorous part first: real authentication, a real database, real legal research. Most projects at this stage are a mockup — ours has a working backend and law you can check line by line.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584448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3858768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75" y="398239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382219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this different from calling the vet or the police?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" y="4443984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call them. PFUMA doesn't replace the relationship, it gives it a paper trail. A phone call disappears. A record in PFUMA doesn't.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0216" y="3584448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4536" y="3858768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8163" y="3982395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82219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stops a fake officer approving fake sales?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74536" y="4443984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accounts aren't self-signup. An existing verified officer creates and vouches for the next one — the same way real ZRP units onboard members. You cannot register as police off the street.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557784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CFE3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41248" y="557784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dodge these — they are good questions,  </a:t>
            </a:r>
            <a:pPr indent="0" marL="0">
              <a:buNone/>
            </a:pPr>
            <a:r>
              <a:rPr lang="en-US" sz="13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answering them straight is what makes the rest of the pitch believable.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PFUMA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69494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6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Pfuma means wealth.</a:t>
            </a:r>
            <a:endParaRPr lang="en-US" sz="36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6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what protects it.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one shared record. A sale that cannot go live until police clear it. An AI assistant that answers in a farmer's own words, and every feature built around an Act that already exists.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699248" y="1737360"/>
            <a:ext cx="3925519" cy="1755648"/>
          </a:xfrm>
          <a:prstGeom prst="roundRect">
            <a:avLst>
              <a:gd name="adj" fmla="val 3125"/>
            </a:avLst>
          </a:prstGeom>
          <a:solidFill>
            <a:srgbClr val="FBC02D"/>
          </a:solidFill>
          <a:ln/>
        </p:spPr>
      </p:sp>
      <p:sp>
        <p:nvSpPr>
          <p:cNvPr id="8" name="Text 6"/>
          <p:cNvSpPr/>
          <p:nvPr/>
        </p:nvSpPr>
        <p:spPr>
          <a:xfrm>
            <a:off x="7973568" y="1956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7A5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73568" y="2286000"/>
            <a:ext cx="337687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2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account takes thirty seconds — look around as any role you like, even Police.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408736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0" y="4041648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teamgriwd@gmail.com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45445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4498848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GRIWD · Arnold T. Mapindu · Adrianny Jaliele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5001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4956048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Agricultural Show 2026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6928" y="47000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only remember five things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" y="5029200"/>
            <a:ext cx="6766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Pfuma = wealth, and this protects it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one shared record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can't go live until police clear it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500,000+ cattle lost since 2016 · 3,400+ arrests in one crackdown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 — working backend, real database, cited legal research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PFUMA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PFUMA — Zimbabwe Agricultural Show 2026</dc:title>
  <dc:subject>PptxGenJS Presentation</dc:subject>
  <dc:creator>Team GRIWD</dc:creator>
  <cp:lastModifiedBy>Team GRIWD</cp:lastModifiedBy>
  <cp:revision>1</cp:revision>
  <dcterms:created xsi:type="dcterms:W3CDTF">2026-08-01T19:13:41Z</dcterms:created>
  <dcterms:modified xsi:type="dcterms:W3CDTF">2026-08-01T19:13:41Z</dcterms:modified>
</cp:coreProperties>
</file>